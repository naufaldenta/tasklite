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ab7bd3d58d4c58" /><Relationship Type="http://schemas.openxmlformats.org/officeDocument/2006/relationships/extended-properties" Target="/docProps/app.xml" Id="Rbf93de5868cb48d4" /><Relationship Type="http://schemas.openxmlformats.org/officeDocument/2006/relationships/officeDocument" Target="/ppt/presentation.xml" Id="Re239805465264e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c9f13af53e4b12"/>
  </p:sldMasterIdLst>
  <p:notesMasterIdLst>
    <p:notesMasterId xmlns:r="http://schemas.openxmlformats.org/officeDocument/2006/relationships" r:id="R25557fada4c04011"/>
  </p:notesMasterIdLst>
  <p:sldIdLst>
    <p:sldId xmlns:r="http://schemas.openxmlformats.org/officeDocument/2006/relationships" id="256" r:id="R3d6b08615ddf4637"/>
    <p:sldId xmlns:r="http://schemas.openxmlformats.org/officeDocument/2006/relationships" id="257" r:id="Rcee534bef7ae4b6e"/>
    <p:sldId xmlns:r="http://schemas.openxmlformats.org/officeDocument/2006/relationships" id="258" r:id="Rb0dd785f65bc4596"/>
    <p:sldId xmlns:r="http://schemas.openxmlformats.org/officeDocument/2006/relationships" id="259" r:id="R015f8157f19743e3"/>
    <p:sldId xmlns:r="http://schemas.openxmlformats.org/officeDocument/2006/relationships" id="260" r:id="R13b2478f4c5b4bd8"/>
    <p:sldId xmlns:r="http://schemas.openxmlformats.org/officeDocument/2006/relationships" id="261" r:id="R038eb56aba4e4319"/>
    <p:sldId xmlns:r="http://schemas.openxmlformats.org/officeDocument/2006/relationships" id="262" r:id="R5670b39cfb9a43d5"/>
    <p:sldId xmlns:r="http://schemas.openxmlformats.org/officeDocument/2006/relationships" id="263" r:id="R64531fb72958475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1f3144b8eb4a98" /><Relationship Type="http://schemas.openxmlformats.org/officeDocument/2006/relationships/slideMaster" Target="/ppt/slideMasters/slideMaster1.xml" Id="R85c9f13af53e4b12" /><Relationship Type="http://schemas.openxmlformats.org/officeDocument/2006/relationships/notesMaster" Target="/ppt/notesMasters/notesMaster1.xml" Id="R25557fada4c04011" /><Relationship Type="http://schemas.openxmlformats.org/officeDocument/2006/relationships/presProps" Target="/ppt/presProps.xml" Id="R61363bb34d644ed6" /><Relationship Type="http://schemas.openxmlformats.org/officeDocument/2006/relationships/tableStyles" Target="/ppt/tableStyles.xml" Id="Rdfa96acf92b6451f" /><Relationship Type="http://schemas.openxmlformats.org/officeDocument/2006/relationships/slide" Target="/ppt/slides/slide1.xml" Id="R3d6b08615ddf4637" /><Relationship Type="http://schemas.openxmlformats.org/officeDocument/2006/relationships/slide" Target="/ppt/slides/slide2.xml" Id="Rcee534bef7ae4b6e" /><Relationship Type="http://schemas.openxmlformats.org/officeDocument/2006/relationships/slide" Target="/ppt/slides/slide3.xml" Id="Rb0dd785f65bc4596" /><Relationship Type="http://schemas.openxmlformats.org/officeDocument/2006/relationships/slide" Target="/ppt/slides/slide4.xml" Id="R015f8157f19743e3" /><Relationship Type="http://schemas.openxmlformats.org/officeDocument/2006/relationships/slide" Target="/ppt/slides/slide5.xml" Id="R13b2478f4c5b4bd8" /><Relationship Type="http://schemas.openxmlformats.org/officeDocument/2006/relationships/slide" Target="/ppt/slides/slide6.xml" Id="R038eb56aba4e4319" /><Relationship Type="http://schemas.openxmlformats.org/officeDocument/2006/relationships/slide" Target="/ppt/slides/slide7.xml" Id="R5670b39cfb9a43d5" /><Relationship Type="http://schemas.openxmlformats.org/officeDocument/2006/relationships/slide" Target="/ppt/slides/slide8.xml" Id="R64531fb7295847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1d77e277eb4b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c01ad1fbed4301" /><Relationship Type="http://schemas.openxmlformats.org/officeDocument/2006/relationships/notesMaster" Target="/ppt/notesMasters/notesMaster1.xml" Id="Rb658eb09946244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70b639a8584006" /><Relationship Type="http://schemas.openxmlformats.org/officeDocument/2006/relationships/notesMaster" Target="/ppt/notesMasters/notesMaster1.xml" Id="R952be4eaa8054f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8cdf15a35e47bb" /><Relationship Type="http://schemas.openxmlformats.org/officeDocument/2006/relationships/notesMaster" Target="/ppt/notesMasters/notesMaster1.xml" Id="R3d4149b4c4bd4e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9b7ca832ae4b95" /><Relationship Type="http://schemas.openxmlformats.org/officeDocument/2006/relationships/notesMaster" Target="/ppt/notesMasters/notesMaster1.xml" Id="R4cd07a202d3641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2e9ec88cf741a7" /><Relationship Type="http://schemas.openxmlformats.org/officeDocument/2006/relationships/notesMaster" Target="/ppt/notesMasters/notesMaster1.xml" Id="R1f9852767a114a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ca8cdf42574f35" /><Relationship Type="http://schemas.openxmlformats.org/officeDocument/2006/relationships/notesMaster" Target="/ppt/notesMasters/notesMaster1.xml" Id="Rc2276cb4c41044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5249d266304bf8" /><Relationship Type="http://schemas.openxmlformats.org/officeDocument/2006/relationships/notesMaster" Target="/ppt/notesMasters/notesMaster1.xml" Id="R33978ff58e2c48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8a3437743c43b9" /><Relationship Type="http://schemas.openxmlformats.org/officeDocument/2006/relationships/notesMaster" Target="/ppt/notesMasters/notesMaster1.xml" Id="R56fa856564ca46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4efeb3dbdc42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d95c42b4b14755" /><Relationship Type="http://schemas.openxmlformats.org/officeDocument/2006/relationships/slideLayout" Target="/ppt/slideLayouts/slideLayout1.xml" Id="Rce4b1c4a03df47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4b1c4a03df47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240f485b64ab0" /><Relationship Type="http://schemas.openxmlformats.org/officeDocument/2006/relationships/notesSlide" Target="/ppt/notesSlides/notesSlide1.xml" Id="Rd62089991fd348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883e8ba4e4d00" /><Relationship Type="http://schemas.openxmlformats.org/officeDocument/2006/relationships/notesSlide" Target="/ppt/notesSlides/notesSlide2.xml" Id="Rc8815c3503154e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2a7857ce8404d" /><Relationship Type="http://schemas.openxmlformats.org/officeDocument/2006/relationships/image" Target="/ppt/media/image.jpeg" Id="Rc2f5d4ad240b4d04" /><Relationship Type="http://schemas.openxmlformats.org/officeDocument/2006/relationships/notesSlide" Target="/ppt/notesSlides/notesSlide3.xml" Id="R6adecc772cc143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2288284594bd7" /><Relationship Type="http://schemas.openxmlformats.org/officeDocument/2006/relationships/notesSlide" Target="/ppt/notesSlides/notesSlide4.xml" Id="R37602098acc441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3c88289d040e4" /><Relationship Type="http://schemas.openxmlformats.org/officeDocument/2006/relationships/notesSlide" Target="/ppt/notesSlides/notesSlide5.xml" Id="Rf8a9dc0aefc845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48ceb3f9640e7" /><Relationship Type="http://schemas.openxmlformats.org/officeDocument/2006/relationships/notesSlide" Target="/ppt/notesSlides/notesSlide6.xml" Id="Rd255d3032d5a4b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1e16b8ffe42e1" /><Relationship Type="http://schemas.openxmlformats.org/officeDocument/2006/relationships/image" Target="/ppt/media/image2.jpeg" Id="R4d3cd9585848476e" /><Relationship Type="http://schemas.openxmlformats.org/officeDocument/2006/relationships/notesSlide" Target="/ppt/notesSlides/notesSlide7.xml" Id="R7b13651dfb8149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bf355d32c46ce" /><Relationship Type="http://schemas.openxmlformats.org/officeDocument/2006/relationships/notesSlide" Target="/ppt/notesSlides/notesSlide8.xml" Id="R6058c8cba6c545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43F08-D8D0-408F-8579-E913A42E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590675"/>
            <a:ext cx="895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F38"/>
          </a:solidFill>
          <a:ln xmlns:a="http://schemas.openxmlformats.org/drawingml/2006/main" w="0">
            <a:solidFill>
              <a:srgbClr val="163F38"/>
            </a:solidFill>
            <a:prstDash val="solid"/>
          </a:ln>
        </p:spPr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1EEB5463-3297-47E2-92B8-7EE58437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09775"/>
            <a:ext cx="9067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825" b="1" i="0">
                <a:solidFill>
                  <a:srgbClr val="1F2926"/>
                </a:solidFill>
              </a:defRPr>
            </a:pPr>
            <a:r>
              <a:rPr sz="3825" b="1" i="0">
                <a:solidFill>
                  <a:srgbClr val="1F2926"/>
                </a:solidFill>
              </a:rPr>
              <a:t>IMPLEMENTASI APLIKASI MULTI-CONTAINER</a:t>
            </a:r>
          </a:p>
          <a:p xmlns:a="http://schemas.openxmlformats.org/drawingml/2006/main">
            <a:pPr algn="ctr">
              <a:defRPr sz="3825" b="1" i="0">
                <a:solidFill>
                  <a:srgbClr val="1F2926"/>
                </a:solidFill>
              </a:defRPr>
            </a:pPr>
            <a:r>
              <a:rPr sz="3825" b="1" i="0">
                <a:solidFill>
                  <a:srgbClr val="1F2926"/>
                </a:solidFill>
              </a:rPr>
              <a:t>DENGAN DOCKER, ORKESTRASI, DAN CI/CD</a:t>
            </a:r>
          </a:p>
          <a:p xmlns:a="http://schemas.openxmlformats.org/drawingml/2006/main">
            <a:pPr algn="ctr">
              <a:defRPr sz="3825" b="1" i="0">
                <a:solidFill>
                  <a:srgbClr val="1F2926"/>
                </a:solidFill>
              </a:defRPr>
            </a:pPr>
            <a:r>
              <a:rPr sz="3825" b="1" i="0">
                <a:solidFill>
                  <a:srgbClr val="1F2926"/>
                </a:solidFill>
              </a:rPr>
              <a:t>— TASKLITE —</a:t>
            </a:r>
          </a:p>
        </p:txBody>
      </p:sp>
    </p:spTree>
    <p:extLst>
      <p:ext uri="{BB962C8B-B14F-4D97-AF65-F5344CB8AC3E}">
        <p14:creationId xmlns:p14="http://schemas.microsoft.com/office/powerpoint/2010/main" val="9818651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6801C2-3EBB-4755-9BDB-F7985772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F38"/>
          </a:solidFill>
          <a:ln xmlns:a="http://schemas.openxmlformats.org/drawingml/2006/main" w="0">
            <a:solidFill>
              <a:srgbClr val="163F38"/>
            </a:solidFill>
            <a:prstDash val="solid"/>
          </a:ln>
        </p:spPr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B44AB4D4-6FE7-4B7E-893E-361522FA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F2926"/>
                </a:solidFill>
              </a:defRPr>
            </a:pPr>
            <a:r>
              <a:rPr sz="2925" b="1" i="0">
                <a:solidFill>
                  <a:srgbClr val="1F2926"/>
                </a:solidFill>
              </a:rPr>
              <a:t>Proyek sederhana, bukti cloud lengkap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38255-6CA0-4CE8-A6E4-2155074F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3F38"/>
                </a:solidFill>
              </a:defRPr>
            </a:pPr>
            <a:r>
              <a:rPr sz="1200" b="1" i="0">
                <a:solidFill>
                  <a:srgbClr val="163F38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A882F-466E-4A54-B272-F75070BF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38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B706C"/>
                </a:solidFill>
              </a:defRPr>
            </a:pPr>
            <a:r>
              <a:rPr sz="1725" b="0" i="0">
                <a:solidFill>
                  <a:srgbClr val="6B706C"/>
                </a:solidFill>
              </a:rPr>
              <a:t>Fokus proyek bukan pada banyaknya fitur, melainkan pada penerapan konsep Cloud Computing yang utuh dan dapat diuji.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3F810-A9AE-43D0-83CE-CF2D1587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50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F38"/>
          </a:solidFill>
          <a:ln xmlns:a="http://schemas.openxmlformats.org/drawingml/2006/main" w="0">
            <a:solidFill>
              <a:srgbClr val="163F3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1BDE0-3441-4554-8C45-9B5B9421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76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5F1BD-28FE-4549-AD58-21E61F97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66975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926"/>
                </a:solidFill>
              </a:defRPr>
            </a:pPr>
            <a:r>
              <a:rPr sz="1500" b="1" i="0">
                <a:solidFill>
                  <a:srgbClr val="1F2926"/>
                </a:solidFill>
              </a:rPr>
              <a:t>Aplikasi web ringan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4D56E-51E5-4B2D-9C8C-300F6DED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06C"/>
                </a:solidFill>
              </a:defRPr>
            </a:pPr>
            <a:r>
              <a:rPr sz="1200" b="0" i="0">
                <a:solidFill>
                  <a:srgbClr val="6B706C"/>
                </a:solidFill>
              </a:rPr>
              <a:t>CRUD tugas harian berjalan di Flask dan Gunicorn.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B70F2-B1A0-4935-9B94-A801EDDB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04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F38"/>
          </a:solidFill>
          <a:ln xmlns:a="http://schemas.openxmlformats.org/drawingml/2006/main" w="0">
            <a:solidFill>
              <a:srgbClr val="163F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7904D-CE0C-4056-B231-C67B06AB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718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6B82D-D60F-4097-8ED6-AD2CDCC6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62325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926"/>
                </a:solidFill>
              </a:defRPr>
            </a:pPr>
            <a:r>
              <a:rPr sz="1500" b="1" i="0">
                <a:solidFill>
                  <a:srgbClr val="1F2926"/>
                </a:solidFill>
              </a:rPr>
              <a:t>Layanan terpisah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3A039-301F-4094-A824-F77C2570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06C"/>
                </a:solidFill>
              </a:defRPr>
            </a:pPr>
            <a:r>
              <a:rPr sz="1200" b="0" i="0">
                <a:solidFill>
                  <a:srgbClr val="6B706C"/>
                </a:solidFill>
              </a:rPr>
              <a:t>Aplikasi dan PostgreSQL berada pada container berbeda.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2CE74-E99A-4D0F-B27E-AD8B1490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957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F38"/>
          </a:solidFill>
          <a:ln xmlns:a="http://schemas.openxmlformats.org/drawingml/2006/main" w="0">
            <a:solidFill>
              <a:srgbClr val="163F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ABC9C-4EF0-4718-B73C-7DCCCECF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672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002AD-4CDE-4717-B2AD-C02A871F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57675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926"/>
                </a:solidFill>
              </a:defRPr>
            </a:pPr>
            <a:r>
              <a:rPr sz="1500" b="1" i="0">
                <a:solidFill>
                  <a:srgbClr val="1F2926"/>
                </a:solidFill>
              </a:rPr>
              <a:t>Proses dapat dibuktikan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FC5E2D-9902-4D3A-96A3-19328004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06C"/>
                </a:solidFill>
              </a:defRPr>
            </a:pPr>
            <a:r>
              <a:rPr sz="1200" b="0" i="0">
                <a:solidFill>
                  <a:srgbClr val="6B706C"/>
                </a:solidFill>
              </a:rPr>
              <a:t>Health check, testing, volume, dan CI/CD tersedia.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EB3349-7573-453D-A684-09F2207C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5AD"/>
          </a:solidFill>
          <a:ln xmlns:a="http://schemas.openxmlformats.org/drawingml/2006/main" w="0">
            <a:solidFill>
              <a:srgbClr val="B7B5A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85975F-FF63-4365-8AB4-FE4A3300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287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163F38"/>
                </a:solidFill>
              </a:defRPr>
            </a:pPr>
            <a:r>
              <a:rPr sz="5400" b="1" i="0">
                <a:solidFill>
                  <a:srgbClr val="163F38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8CB887-882A-4063-94AF-17CBEC5C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26"/>
                </a:solidFill>
              </a:defRPr>
            </a:pPr>
            <a:r>
              <a:rPr sz="1500" b="0" i="0">
                <a:solidFill>
                  <a:srgbClr val="1F2926"/>
                </a:solidFill>
              </a:rPr>
              <a:t>container inti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C7A493-B78F-4E22-8FB8-317E36E1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5AD"/>
          </a:solidFill>
          <a:ln xmlns:a="http://schemas.openxmlformats.org/drawingml/2006/main" w="0">
            <a:solidFill>
              <a:srgbClr val="B7B5A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2EE393-CD07-4496-9C53-A89123A5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908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 i="0">
                <a:solidFill>
                  <a:srgbClr val="2F635A"/>
                </a:solidFill>
              </a:defRPr>
            </a:pPr>
            <a:r>
              <a:rPr sz="4500" b="1" i="0">
                <a:solidFill>
                  <a:srgbClr val="2F635A"/>
                </a:solidFill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8F8613-0840-4848-BE74-4E8F5B5C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57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26"/>
                </a:solidFill>
              </a:defRPr>
            </a:pPr>
            <a:r>
              <a:rPr sz="1500" b="0" i="0">
                <a:solidFill>
                  <a:srgbClr val="1F2926"/>
                </a:solidFill>
              </a:rPr>
              <a:t>persistent volume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F3740C-59F3-43D0-A088-B4943868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529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5AD"/>
          </a:solidFill>
          <a:ln xmlns:a="http://schemas.openxmlformats.org/drawingml/2006/main" w="0">
            <a:solidFill>
              <a:srgbClr val="B7B5A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544D2F-41BE-4177-A5FF-A887E8D6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005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 i="0">
                <a:solidFill>
                  <a:srgbClr val="2F635A"/>
                </a:solidFill>
              </a:defRPr>
            </a:pPr>
            <a:r>
              <a:rPr sz="4500" b="1" i="0">
                <a:solidFill>
                  <a:srgbClr val="2F635A"/>
                </a:solidFill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DFBA06-2163-4B95-9B4A-1E9CBE29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67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26"/>
                </a:solidFill>
              </a:defRPr>
            </a:pPr>
            <a:r>
              <a:rPr sz="1500" b="0" i="0">
                <a:solidFill>
                  <a:srgbClr val="1F2926"/>
                </a:solidFill>
              </a:rPr>
              <a:t>pipeline otomatis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7C7561-F010-421A-B2BA-AC0B9433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5AD"/>
          </a:solidFill>
          <a:ln xmlns:a="http://schemas.openxmlformats.org/drawingml/2006/main" w="0">
            <a:solidFill>
              <a:srgbClr val="B7B5A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1FFD2C-4B9B-43E3-B0A9-B3D5B4A7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06C"/>
                </a:solidFill>
              </a:defRPr>
            </a:pPr>
            <a:r>
              <a:rPr sz="825" b="1" i="0">
                <a:solidFill>
                  <a:srgbClr val="6B706C"/>
                </a:solidFill>
              </a:rPr>
              <a:t>TASKLITE · UAS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4612896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244833-FEAA-42BB-A1D0-4B7E990F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F38"/>
          </a:solidFill>
          <a:ln xmlns:a="http://schemas.openxmlformats.org/drawingml/2006/main" w="0">
            <a:solidFill>
              <a:srgbClr val="163F38"/>
            </a:solidFill>
            <a:prstDash val="solid"/>
          </a:ln>
        </p:spPr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5D01CFA4-D6B6-4C63-90BD-109305AF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F2926"/>
                </a:solidFill>
              </a:defRPr>
            </a:pPr>
            <a:r>
              <a:rPr sz="2925" b="1" i="0">
                <a:solidFill>
                  <a:srgbClr val="1F2926"/>
                </a:solidFill>
              </a:rPr>
              <a:t>TaskLite memenuhi CRUD tanpa membebani laptop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EC68F-B821-41AE-AD59-6C1A07FC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3F38"/>
                </a:solidFill>
              </a:defRPr>
            </a:pPr>
            <a:r>
              <a:rPr sz="1200" b="1" i="0">
                <a:solidFill>
                  <a:srgbClr val="163F38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4A1F5-611B-4E98-862C-A402F9CE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B706C"/>
                </a:solidFill>
              </a:defRPr>
            </a:pPr>
            <a:r>
              <a:rPr sz="1575" b="0" i="0">
                <a:solidFill>
                  <a:srgbClr val="6B706C"/>
                </a:solidFill>
              </a:rPr>
              <a:t>Satu halaman utama menangani alur kerja harian dengan tampilan datar, jelas, dan tanpa dependensi frontend berat.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53E55-E57C-48B1-9EF3-6068E34D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431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3F38"/>
                </a:solidFill>
              </a:defRPr>
            </a:pPr>
            <a:r>
              <a:rPr sz="1200" b="1" i="0">
                <a:solidFill>
                  <a:srgbClr val="163F38"/>
                </a:solidFill>
              </a:rPr>
              <a:t>CREATE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42E02-3F03-417A-B68F-DFEA00D5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289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26"/>
                </a:solidFill>
              </a:defRPr>
            </a:pPr>
            <a:r>
              <a:rPr sz="1350" b="0" i="0">
                <a:solidFill>
                  <a:srgbClr val="1F2926"/>
                </a:solidFill>
              </a:rPr>
              <a:t>Tambah judul dan catatan tugas.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A5D8C-9553-42CC-906E-7F3CE140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5AD"/>
          </a:solidFill>
          <a:ln xmlns:a="http://schemas.openxmlformats.org/drawingml/2006/main" w="0">
            <a:solidFill>
              <a:srgbClr val="B7B5A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E8F33E-1BE4-412B-B67D-9AD24551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575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3F38"/>
                </a:solidFill>
              </a:defRPr>
            </a:pPr>
            <a:r>
              <a:rPr sz="1200" b="1" i="0">
                <a:solidFill>
                  <a:srgbClr val="163F38"/>
                </a:solidFill>
              </a:rPr>
              <a:t>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1A4FD-E70C-41EA-B4CB-026A3695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433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26"/>
                </a:solidFill>
              </a:defRPr>
            </a:pPr>
            <a:r>
              <a:rPr sz="1350" b="0" i="0">
                <a:solidFill>
                  <a:srgbClr val="1F2926"/>
                </a:solidFill>
              </a:rPr>
              <a:t>Lihat daftar dan status tugas.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A0756-3938-4E93-A8FF-7E2E0580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5AD"/>
          </a:solidFill>
          <a:ln xmlns:a="http://schemas.openxmlformats.org/drawingml/2006/main" w="0">
            <a:solidFill>
              <a:srgbClr val="B7B5A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5D9BF-DC81-4752-8BE9-EB27680C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719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3F38"/>
                </a:solidFill>
              </a:defRPr>
            </a:pPr>
            <a:r>
              <a:rPr sz="1200" b="1" i="0">
                <a:solidFill>
                  <a:srgbClr val="163F38"/>
                </a:solidFill>
              </a:rPr>
              <a:t>UPDATE &amp; DELETE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1DF27-B725-430E-BDA4-33D3DCED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57725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26"/>
                </a:solidFill>
              </a:defRPr>
            </a:pPr>
            <a:r>
              <a:rPr sz="1350" b="0" i="0">
                <a:solidFill>
                  <a:srgbClr val="1F2926"/>
                </a:solidFill>
              </a:rPr>
              <a:t>Ubah detail, tandai selesai, atau hapus.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3C913-5262-4A43-9210-0F4A8E56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5AD"/>
          </a:solidFill>
          <a:ln xmlns:a="http://schemas.openxmlformats.org/drawingml/2006/main" w="0">
            <a:solidFill>
              <a:srgbClr val="B7B5A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8EE149-8F9B-4EE7-A366-78B5FEF0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340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3F38"/>
                </a:solidFill>
              </a:defRPr>
            </a:pPr>
            <a:r>
              <a:rPr sz="1350" b="1" i="0">
                <a:solidFill>
                  <a:srgbClr val="163F38"/>
                </a:solidFill>
              </a:rPr>
              <a:t>/health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A748A-2F16-4C7F-BD87-4ECB3A42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5340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26"/>
                </a:solidFill>
              </a:defRPr>
            </a:pPr>
            <a:r>
              <a:rPr sz="1200" b="0" i="0">
                <a:solidFill>
                  <a:srgbClr val="1F2926"/>
                </a:solidFill>
              </a:rPr>
              <a:t>Memeriksa aplikasi dan koneksi database.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251C6-A86A-4936-AD43-F9BB5E7B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200150"/>
            <a:ext cx="6819900" cy="491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3F3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5d4ad240b4d04"/>
          <a:stretch xmlns:a="http://schemas.openxmlformats.org/drawingml/2006/main"/>
        </p:blipFill>
        <p:spPr>
          <a:xfrm xmlns:a="http://schemas.openxmlformats.org/drawingml/2006/main">
            <a:off x="4821661" y="1314450"/>
            <a:ext cx="6549177" cy="46863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391D5F-6307-4A00-BF20-E8362354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5AD"/>
          </a:solidFill>
          <a:ln xmlns:a="http://schemas.openxmlformats.org/drawingml/2006/main" w="0">
            <a:solidFill>
              <a:srgbClr val="B7B5A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EC64ED-F895-4E1F-969C-77735FEB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06C"/>
                </a:solidFill>
              </a:defRPr>
            </a:pPr>
            <a:r>
              <a:rPr sz="825" b="1" i="0">
                <a:solidFill>
                  <a:srgbClr val="6B706C"/>
                </a:solidFill>
              </a:rPr>
              <a:t>TASKLITE · UAS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7670922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07A839-9A6C-4A1F-997F-57A578A7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F38"/>
          </a:solidFill>
          <a:ln xmlns:a="http://schemas.openxmlformats.org/drawingml/2006/main" w="0">
            <a:solidFill>
              <a:srgbClr val="163F38"/>
            </a:solidFill>
            <a:prstDash val="solid"/>
          </a:ln>
        </p:spPr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27FCA1E5-8005-4025-932B-E31A987F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F2926"/>
                </a:solidFill>
              </a:defRPr>
            </a:pPr>
            <a:r>
              <a:rPr sz="2925" b="1" i="0">
                <a:solidFill>
                  <a:srgbClr val="1F2926"/>
                </a:solidFill>
              </a:rPr>
              <a:t>Dua container dipisahkan, lalu disatukan oleh Compose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813FE-62A8-44E8-A471-EC6199B9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3F38"/>
                </a:solidFill>
              </a:defRPr>
            </a:pPr>
            <a:r>
              <a:rPr sz="1200" b="1" i="0">
                <a:solidFill>
                  <a:srgbClr val="163F38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DFD4E-A6B6-45ED-AFC1-25F8D796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19400"/>
            <a:ext cx="895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7C0"/>
          </a:solidFill>
          <a:ln xmlns:a="http://schemas.openxmlformats.org/drawingml/2006/main" w="0">
            <a:solidFill>
              <a:srgbClr val="B9C7C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E6D90-CA11-49C4-906F-3E3C956A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19400"/>
            <a:ext cx="895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7C0"/>
          </a:solidFill>
          <a:ln xmlns:a="http://schemas.openxmlformats.org/drawingml/2006/main" w="0">
            <a:solidFill>
              <a:srgbClr val="B9C7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FB3DA-3B83-4E86-A434-572A34F7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19400"/>
            <a:ext cx="895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7C0"/>
          </a:solidFill>
          <a:ln xmlns:a="http://schemas.openxmlformats.org/drawingml/2006/main" w="0">
            <a:solidFill>
              <a:srgbClr val="B9C7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B4385-552B-4F3D-A834-8147F4AE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809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9050">
            <a:solidFill>
              <a:srgbClr val="163F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9798D-9888-40B1-9422-45BD15EA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63F38"/>
                </a:solidFill>
              </a:defRPr>
            </a:pPr>
            <a:r>
              <a:rPr sz="1200" b="1" i="0">
                <a:solidFill>
                  <a:srgbClr val="163F38"/>
                </a:solidFill>
              </a:rPr>
              <a:t>PENGGUNA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0B7E8-F050-425F-9D61-9195FEE9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F2926"/>
                </a:solidFill>
              </a:defRPr>
            </a:pPr>
            <a:r>
              <a:rPr sz="1950" b="1" i="0">
                <a:solidFill>
                  <a:srgbClr val="1F2926"/>
                </a:solidFill>
              </a:rPr>
              <a:t>Browser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E1845-3546-42F4-AD88-B7A6FCE6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B706C"/>
                </a:solidFill>
              </a:defRPr>
            </a:pPr>
            <a:r>
              <a:rPr sz="1200" b="0" i="0">
                <a:solidFill>
                  <a:srgbClr val="6B706C"/>
                </a:solidFill>
              </a:rPr>
              <a:t>localhost:8000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F46C6-5FA7-442E-8618-C5D06DB8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85950"/>
            <a:ext cx="23622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163F38"/>
          </a:solidFill>
          <a:ln xmlns:a="http://schemas.openxmlformats.org/drawingml/2006/main" w="0">
            <a:solidFill>
              <a:srgbClr val="163F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A432F-618C-4C1E-BDA8-0FB3B8A8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CONTAINER 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E4209-EE71-4E42-AB0B-D7EF21D1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Flask + Gunicorn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46D2D-3EF0-453B-8008-907A3BD8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90875"/>
            <a:ext cx="1790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CRUD · /health</a:t>
            </a:r>
          </a:p>
          <a:p xmlns:a="http://schemas.openxmlformats.org/drawingml/2006/main">
            <a:pPr algn="ctr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port internal 8000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0A657-2271-474D-BBDC-ACD741B2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85950"/>
            <a:ext cx="23622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2F635A"/>
          </a:solidFill>
          <a:ln xmlns:a="http://schemas.openxmlformats.org/drawingml/2006/main" w="0">
            <a:solidFill>
              <a:srgbClr val="2F63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CADB2A-2509-4F0A-8467-90C83C99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336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CONTAINER DB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8F70CC-46E5-4084-B539-852B2447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289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PostgreSQL 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09896-8D6E-49D0-8073-628DDCE7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90875"/>
            <a:ext cx="1790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pg_isready</a:t>
            </a:r>
          </a:p>
          <a:p xmlns:a="http://schemas.openxmlformats.org/drawingml/2006/main">
            <a:pPr algn="ctr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port internal 5432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DE7177-5DF6-4EB4-94AE-A0ECFF15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71700"/>
            <a:ext cx="18859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9050">
            <a:solidFill>
              <a:srgbClr val="163F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E027C7-2C0C-4DFF-A7D5-B759BB9A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812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63F38"/>
                </a:solidFill>
              </a:defRPr>
            </a:pPr>
            <a:r>
              <a:rPr sz="1200" b="1" i="0">
                <a:solidFill>
                  <a:srgbClr val="163F38"/>
                </a:solidFill>
              </a:rPr>
              <a:t>VOLUME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37ED2C-3D78-499E-9AFE-E080A78A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194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F2926"/>
                </a:solidFill>
              </a:defRPr>
            </a:pPr>
            <a:r>
              <a:rPr sz="1725" b="1" i="0">
                <a:solidFill>
                  <a:srgbClr val="1F2926"/>
                </a:solidFill>
              </a:rPr>
              <a:t>Data tetap 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1F8734-C48F-4A0A-A879-ACCAE8F1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86125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B706C"/>
                </a:solidFill>
              </a:defRPr>
            </a:pPr>
            <a:r>
              <a:rPr sz="1125" b="0" i="0">
                <a:solidFill>
                  <a:srgbClr val="6B706C"/>
                </a:solidFill>
              </a:rPr>
              <a:t>tasklite-postgres-data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29B0DE-94C0-41F6-A933-FF057480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431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B706C"/>
                </a:solidFill>
              </a:defRPr>
            </a:pPr>
            <a:r>
              <a:rPr sz="975" b="1" i="0">
                <a:solidFill>
                  <a:srgbClr val="6B706C"/>
                </a:solidFill>
              </a:rPr>
              <a:t>HTTP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816FD0-54C2-45BA-B9D9-80531A1F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431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B706C"/>
                </a:solidFill>
              </a:defRPr>
            </a:pPr>
            <a:r>
              <a:rPr sz="975" b="1" i="0">
                <a:solidFill>
                  <a:srgbClr val="6B706C"/>
                </a:solidFill>
              </a:rPr>
              <a:t>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B9BF7B-B8CF-429F-879B-3EA5DE62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431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B706C"/>
                </a:solidFill>
              </a:defRPr>
            </a:pPr>
            <a:r>
              <a:rPr sz="975" b="1" i="0">
                <a:solidFill>
                  <a:srgbClr val="6B706C"/>
                </a:solidFill>
              </a:rPr>
              <a:t>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F0F9DF-AB28-4109-9720-847E837E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695825"/>
            <a:ext cx="61531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B7B5A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14B7AD-8F51-454E-8648-4CE736CA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577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F2926"/>
                </a:solidFill>
              </a:defRPr>
            </a:pPr>
            <a:r>
              <a:rPr sz="1575" b="1" i="0">
                <a:solidFill>
                  <a:srgbClr val="1F2926"/>
                </a:solidFill>
              </a:rPr>
              <a:t>Docker Compose · tasklite-network (bridge)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6947C3-F62D-4610-898B-4E9829C4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591175"/>
            <a:ext cx="788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B706C"/>
                </a:solidFill>
              </a:defRPr>
            </a:pPr>
            <a:r>
              <a:rPr sz="1350" b="0" i="0">
                <a:solidFill>
                  <a:srgbClr val="6B706C"/>
                </a:solidFill>
              </a:rPr>
              <a:t>Compose mengatur build, urutan start, network, environment, health check, restart, dan volume.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CF6767-E441-47FB-A847-BC8291ED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5AD"/>
          </a:solidFill>
          <a:ln xmlns:a="http://schemas.openxmlformats.org/drawingml/2006/main" w="0">
            <a:solidFill>
              <a:srgbClr val="B7B5A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8F38A-B1D8-4EED-A0A9-2B89B983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06C"/>
                </a:solidFill>
              </a:defRPr>
            </a:pPr>
            <a:r>
              <a:rPr sz="825" b="1" i="0">
                <a:solidFill>
                  <a:srgbClr val="6B706C"/>
                </a:solidFill>
              </a:rPr>
              <a:t>TASKLITE · UAS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386952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8127BD-F57E-4B95-AB2E-65A8DCE9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F38"/>
          </a:solidFill>
          <a:ln xmlns:a="http://schemas.openxmlformats.org/drawingml/2006/main" w="0">
            <a:solidFill>
              <a:srgbClr val="163F38"/>
            </a:solidFill>
            <a:prstDash val="solid"/>
          </a:ln>
        </p:spPr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B65D97A5-62CD-411B-9C4B-A7EB2A32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F2926"/>
                </a:solidFill>
              </a:defRPr>
            </a:pPr>
            <a:r>
              <a:rPr sz="2925" b="1" i="0">
                <a:solidFill>
                  <a:srgbClr val="1F2926"/>
                </a:solidFill>
              </a:rPr>
              <a:t>Docker Compose menjaga layanan tetap ringan dan terpantau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0BCAF-71AD-463D-8206-820CE8AF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3F38"/>
                </a:solidFill>
              </a:defRPr>
            </a:pPr>
            <a:r>
              <a:rPr sz="1200" b="1" i="0">
                <a:solidFill>
                  <a:srgbClr val="163F38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6CC1F-FE4F-4197-9923-EAF9846A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6191250" cy="4533900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101311"/>
          </a:solidFill>
          <a:ln xmlns:a="http://schemas.openxmlformats.org/drawingml/2006/main" w="0">
            <a:solidFill>
              <a:srgbClr val="1013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A59EE-BC63-4E92-8F0C-7F9B9F8E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04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6B878"/>
                </a:solidFill>
              </a:defRPr>
            </a:pPr>
            <a:r>
              <a:rPr sz="1275" b="1" i="0">
                <a:solidFill>
                  <a:srgbClr val="D6B878"/>
                </a:solidFill>
              </a:rPr>
              <a:t>compose.yaml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502F0-ED5F-4E7C-B871-15A2DF79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552450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AECE8"/>
                </a:solidFill>
              </a:defRPr>
            </a:pPr>
            <a:r>
              <a:rPr sz="1350" b="0" i="0">
                <a:solidFill>
                  <a:srgbClr val="EAECE8"/>
                </a:solidFill>
              </a:rPr>
              <a:t>services:</a:t>
            </a:r>
          </a:p>
          <a:p xmlns:a="http://schemas.openxmlformats.org/drawingml/2006/main">
            <a:pPr algn="l">
              <a:defRPr sz="1350" b="0" i="0">
                <a:solidFill>
                  <a:srgbClr val="EAECE8"/>
                </a:solidFill>
              </a:defRPr>
            </a:pPr>
            <a:r>
              <a:rPr sz="1350" b="0" i="0">
                <a:solidFill>
                  <a:srgbClr val="EAECE8"/>
                </a:solidFill>
              </a:rPr>
              <a:t>  db:</a:t>
            </a:r>
          </a:p>
          <a:p xmlns:a="http://schemas.openxmlformats.org/drawingml/2006/main">
            <a:pPr algn="l">
              <a:defRPr sz="1350" b="0" i="0">
                <a:solidFill>
                  <a:srgbClr val="EAECE8"/>
                </a:solidFill>
              </a:defRPr>
            </a:pPr>
            <a:r>
              <a:rPr sz="1350" b="0" i="0">
                <a:solidFill>
                  <a:srgbClr val="EAECE8"/>
                </a:solidFill>
              </a:rPr>
              <a:t>    image: postgres:16-alpine</a:t>
            </a:r>
          </a:p>
          <a:p xmlns:a="http://schemas.openxmlformats.org/drawingml/2006/main">
            <a:pPr algn="l">
              <a:defRPr sz="1350" b="0" i="0">
                <a:solidFill>
                  <a:srgbClr val="EAECE8"/>
                </a:solidFill>
              </a:defRPr>
            </a:pPr>
            <a:r>
              <a:rPr sz="1350" b="0" i="0">
                <a:solidFill>
                  <a:srgbClr val="EAECE8"/>
                </a:solidFill>
              </a:rPr>
              <a:t>    volumes:</a:t>
            </a:r>
          </a:p>
          <a:p xmlns:a="http://schemas.openxmlformats.org/drawingml/2006/main">
            <a:pPr algn="l">
              <a:defRPr sz="1350" b="0" i="0">
                <a:solidFill>
                  <a:srgbClr val="EAECE8"/>
                </a:solidFill>
              </a:defRPr>
            </a:pPr>
            <a:r>
              <a:rPr sz="1350" b="0" i="0">
                <a:solidFill>
                  <a:srgbClr val="EAECE8"/>
                </a:solidFill>
              </a:rPr>
              <a:t>      - postgres_data:/var/lib/postgresql/data</a:t>
            </a:r>
          </a:p>
          <a:p xmlns:a="http://schemas.openxmlformats.org/drawingml/2006/main">
            <a:pPr algn="l">
              <a:defRPr sz="1350" b="0" i="0">
                <a:solidFill>
                  <a:srgbClr val="EAECE8"/>
                </a:solidFill>
              </a:defRPr>
            </a:pPr>
            <a:r>
              <a:rPr sz="1350" b="0" i="0">
                <a:solidFill>
                  <a:srgbClr val="EAECE8"/>
                </a:solidFill>
              </a:rPr>
              <a:t>    healthcheck:</a:t>
            </a:r>
          </a:p>
          <a:p xmlns:a="http://schemas.openxmlformats.org/drawingml/2006/main">
            <a:pPr algn="l">
              <a:defRPr sz="1350" b="0" i="0">
                <a:solidFill>
                  <a:srgbClr val="EAECE8"/>
                </a:solidFill>
              </a:defRPr>
            </a:pPr>
            <a:r>
              <a:rPr sz="1350" b="0" i="0">
                <a:solidFill>
                  <a:srgbClr val="EAECE8"/>
                </a:solidFill>
              </a:rPr>
              <a:t>      test: ["CMD-SHELL", "pg_isready ..."]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EAECE8"/>
                </a:solidFill>
              </a:defRPr>
            </a:pPr>
            <a:r>
              <a:rPr sz="1350" b="0" i="0">
                <a:solidFill>
                  <a:srgbClr val="EAECE8"/>
                </a:solidFill>
              </a:rPr>
              <a:t>  app:</a:t>
            </a:r>
          </a:p>
          <a:p xmlns:a="http://schemas.openxmlformats.org/drawingml/2006/main">
            <a:pPr algn="l">
              <a:defRPr sz="1350" b="0" i="0">
                <a:solidFill>
                  <a:srgbClr val="EAECE8"/>
                </a:solidFill>
              </a:defRPr>
            </a:pPr>
            <a:r>
              <a:rPr sz="1350" b="0" i="0">
                <a:solidFill>
                  <a:srgbClr val="EAECE8"/>
                </a:solidFill>
              </a:rPr>
              <a:t>    build: .</a:t>
            </a:r>
          </a:p>
          <a:p xmlns:a="http://schemas.openxmlformats.org/drawingml/2006/main">
            <a:pPr algn="l">
              <a:defRPr sz="1350" b="0" i="0">
                <a:solidFill>
                  <a:srgbClr val="EAECE8"/>
                </a:solidFill>
              </a:defRPr>
            </a:pPr>
            <a:r>
              <a:rPr sz="1350" b="0" i="0">
                <a:solidFill>
                  <a:srgbClr val="EAECE8"/>
                </a:solidFill>
              </a:rPr>
              <a:t>    ports: ["8000:8000"]</a:t>
            </a:r>
          </a:p>
          <a:p xmlns:a="http://schemas.openxmlformats.org/drawingml/2006/main">
            <a:pPr algn="l">
              <a:defRPr sz="1350" b="0" i="0">
                <a:solidFill>
                  <a:srgbClr val="EAECE8"/>
                </a:solidFill>
              </a:defRPr>
            </a:pPr>
            <a:r>
              <a:rPr sz="1350" b="0" i="0">
                <a:solidFill>
                  <a:srgbClr val="EAECE8"/>
                </a:solidFill>
              </a:rPr>
              <a:t>    depends_on:</a:t>
            </a:r>
          </a:p>
          <a:p xmlns:a="http://schemas.openxmlformats.org/drawingml/2006/main">
            <a:pPr algn="l">
              <a:defRPr sz="1350" b="0" i="0">
                <a:solidFill>
                  <a:srgbClr val="EAECE8"/>
                </a:solidFill>
              </a:defRPr>
            </a:pPr>
            <a:r>
              <a:rPr sz="1350" b="0" i="0">
                <a:solidFill>
                  <a:srgbClr val="EAECE8"/>
                </a:solidFill>
              </a:rPr>
              <a:t>      db:</a:t>
            </a:r>
          </a:p>
          <a:p xmlns:a="http://schemas.openxmlformats.org/drawingml/2006/main">
            <a:pPr algn="l">
              <a:defRPr sz="1350" b="0" i="0">
                <a:solidFill>
                  <a:srgbClr val="EAECE8"/>
                </a:solidFill>
              </a:defRPr>
            </a:pPr>
            <a:r>
              <a:rPr sz="1350" b="0" i="0">
                <a:solidFill>
                  <a:srgbClr val="EAECE8"/>
                </a:solidFill>
              </a:rPr>
              <a:t>        condition: service_healthy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89D61-EB8F-4FAF-B253-DBBEC684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47800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63F38"/>
                </a:solidFill>
              </a:defRPr>
            </a:pPr>
            <a:r>
              <a:rPr sz="2625" b="1" i="0">
                <a:solidFill>
                  <a:srgbClr val="163F38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1B42A-2935-4C86-A789-4A369456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04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F2926"/>
                </a:solidFill>
              </a:defRPr>
            </a:pPr>
            <a:r>
              <a:rPr sz="1725" b="1" i="0">
                <a:solidFill>
                  <a:srgbClr val="1F2926"/>
                </a:solidFill>
              </a:rPr>
              <a:t>Image kecil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FA301-7DD8-4B25-A4C1-2C8C941A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478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B706C"/>
                </a:solidFill>
              </a:defRPr>
            </a:pPr>
            <a:r>
              <a:rPr sz="1275" b="0" i="0">
                <a:solidFill>
                  <a:srgbClr val="6B706C"/>
                </a:solidFill>
              </a:rPr>
              <a:t>python:3.12-slim dan postgres:16-alpine menekan penggunaan storage.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41DAD-E862-473F-ADEF-47437014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57475"/>
            <a:ext cx="367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5AD"/>
          </a:solidFill>
          <a:ln xmlns:a="http://schemas.openxmlformats.org/drawingml/2006/main" w="0">
            <a:solidFill>
              <a:srgbClr val="B7B5A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04B7D-D542-46C9-A6FC-FD663B0D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24175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63F38"/>
                </a:solidFill>
              </a:defRPr>
            </a:pPr>
            <a:r>
              <a:rPr sz="2625" b="1" i="0">
                <a:solidFill>
                  <a:srgbClr val="163F38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89268E-C549-43BB-93C5-08A5702B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813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F2926"/>
                </a:solidFill>
              </a:defRPr>
            </a:pPr>
            <a:r>
              <a:rPr sz="1725" b="1" i="0">
                <a:solidFill>
                  <a:srgbClr val="1F2926"/>
                </a:solidFill>
              </a:rPr>
              <a:t>Konfigurasi terpisah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BE672-C4AC-42DA-BEEE-0536E5F3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242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B706C"/>
                </a:solidFill>
              </a:defRPr>
            </a:pPr>
            <a:r>
              <a:rPr sz="1275" b="0" i="0">
                <a:solidFill>
                  <a:srgbClr val="6B706C"/>
                </a:solidFill>
              </a:rPr>
              <a:t>.env menyimpan port dan kredensial; service memakai hostname db.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39900-16F1-46B8-A61B-D3D9E241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33850"/>
            <a:ext cx="367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5AD"/>
          </a:solidFill>
          <a:ln xmlns:a="http://schemas.openxmlformats.org/drawingml/2006/main" w="0">
            <a:solidFill>
              <a:srgbClr val="B7B5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596F3-790B-4E41-98C0-68659C1B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00550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63F38"/>
                </a:solidFill>
              </a:defRPr>
            </a:pPr>
            <a:r>
              <a:rPr sz="2625" b="1" i="0">
                <a:solidFill>
                  <a:srgbClr val="163F3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8CF602-51BF-41E0-A56D-551C959D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57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F2926"/>
                </a:solidFill>
              </a:defRPr>
            </a:pPr>
            <a:r>
              <a:rPr sz="1725" b="1" i="0">
                <a:solidFill>
                  <a:srgbClr val="1F2926"/>
                </a:solidFill>
              </a:rPr>
              <a:t>Siap pulih otomatis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BB85E-15DD-41E9-8AD8-C18BAD8B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8006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B706C"/>
                </a:solidFill>
              </a:defRPr>
            </a:pPr>
            <a:r>
              <a:rPr sz="1275" b="0" i="0">
                <a:solidFill>
                  <a:srgbClr val="6B706C"/>
                </a:solidFill>
              </a:rPr>
              <a:t>Health check dan restart policy membuat kondisi layanan mudah dipantau.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972AC2-CCFD-4AA5-BE57-ABCF61B7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5AD"/>
          </a:solidFill>
          <a:ln xmlns:a="http://schemas.openxmlformats.org/drawingml/2006/main" w="0">
            <a:solidFill>
              <a:srgbClr val="B7B5A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D520A1-F56A-428B-8117-144BAD7C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06C"/>
                </a:solidFill>
              </a:defRPr>
            </a:pPr>
            <a:r>
              <a:rPr sz="825" b="1" i="0">
                <a:solidFill>
                  <a:srgbClr val="6B706C"/>
                </a:solidFill>
              </a:rPr>
              <a:t>TASKLITE · UAS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0103466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A6B3E1-A586-4DCC-9742-BBC012D0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F38"/>
          </a:solidFill>
          <a:ln xmlns:a="http://schemas.openxmlformats.org/drawingml/2006/main" w="0">
            <a:solidFill>
              <a:srgbClr val="163F38"/>
            </a:solidFill>
            <a:prstDash val="solid"/>
          </a:ln>
        </p:spPr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1262D8C2-58F5-4B03-892C-72042B2F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F2926"/>
                </a:solidFill>
              </a:defRPr>
            </a:pPr>
            <a:r>
              <a:rPr sz="2925" b="1" i="0">
                <a:solidFill>
                  <a:srgbClr val="1F2926"/>
                </a:solidFill>
              </a:rPr>
              <a:t>Satu push menjalankan pengujian hingga smoke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B216E-89E8-4D1A-8AEE-453ED248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3F38"/>
                </a:solidFill>
              </a:defRPr>
            </a:pPr>
            <a:r>
              <a:rPr sz="1200" b="1" i="0">
                <a:solidFill>
                  <a:srgbClr val="163F38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6E43B-39CB-4763-9C9F-E904CEC2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66975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7C0"/>
          </a:solidFill>
          <a:ln xmlns:a="http://schemas.openxmlformats.org/drawingml/2006/main" w="0">
            <a:solidFill>
              <a:srgbClr val="B9C7C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586AA-3BAD-4999-883E-656A0454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66975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7C0"/>
          </a:solidFill>
          <a:ln xmlns:a="http://schemas.openxmlformats.org/drawingml/2006/main" w="0">
            <a:solidFill>
              <a:srgbClr val="B9C7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136C9-F54B-4D9C-8D9F-F16D35D8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66975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7C0"/>
          </a:solidFill>
          <a:ln xmlns:a="http://schemas.openxmlformats.org/drawingml/2006/main" w="0">
            <a:solidFill>
              <a:srgbClr val="B9C7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1B580-A8F5-4494-82C8-A55E2BE1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66975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7C0"/>
          </a:solidFill>
          <a:ln xmlns:a="http://schemas.openxmlformats.org/drawingml/2006/main" w="0">
            <a:solidFill>
              <a:srgbClr val="B9C7C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BC851-6CB6-42A5-94BB-A3CA3D07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17335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F38"/>
          </a:solidFill>
          <a:ln xmlns:a="http://schemas.openxmlformats.org/drawingml/2006/main" w="19050">
            <a:solidFill>
              <a:srgbClr val="163F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DDC6C-D65B-4DC3-BFC8-78780D7F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Push / PR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5471D-A95D-4B3D-8604-1EA7E6BB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branch main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64528-AEF0-4427-B96F-3DE8CFE7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990725"/>
            <a:ext cx="1714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9050">
            <a:solidFill>
              <a:srgbClr val="163F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51AC9-AA5B-4E58-BC6F-ADC83EEB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3837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F2926"/>
                </a:solidFill>
              </a:defRPr>
            </a:pPr>
            <a:r>
              <a:rPr sz="1500" b="1" i="0">
                <a:solidFill>
                  <a:srgbClr val="1F2926"/>
                </a:solidFill>
              </a:rPr>
              <a:t>pytest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A327FF-800B-44ED-B6AD-05297A6C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860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B706C"/>
                </a:solidFill>
              </a:defRPr>
            </a:pPr>
            <a:r>
              <a:rPr sz="1125" b="0" i="0">
                <a:solidFill>
                  <a:srgbClr val="6B706C"/>
                </a:solidFill>
              </a:rPr>
              <a:t>9 tes otomatis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37277-FA6C-44EF-B911-20A99AD6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990725"/>
            <a:ext cx="1714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9050">
            <a:solidFill>
              <a:srgbClr val="163F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EA22FB-93EF-4D16-BEBE-6539333F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23837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F2926"/>
                </a:solidFill>
              </a:defRPr>
            </a:pPr>
            <a:r>
              <a:rPr sz="1500" b="1" i="0">
                <a:solidFill>
                  <a:srgbClr val="1F2926"/>
                </a:solidFill>
              </a:rPr>
              <a:t>Validasi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9D941-AB41-41C3-AECD-6B721E5E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6860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B706C"/>
                </a:solidFill>
              </a:defRPr>
            </a:pPr>
            <a:r>
              <a:rPr sz="1125" b="0" i="0">
                <a:solidFill>
                  <a:srgbClr val="6B706C"/>
                </a:solidFill>
              </a:rPr>
              <a:t>compose config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3B11A-6B7F-4C1B-B885-C523CEA9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990725"/>
            <a:ext cx="1714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9050">
            <a:solidFill>
              <a:srgbClr val="163F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10ABFB-E2D5-40DF-B5F1-72BE237C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3837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F2926"/>
                </a:solidFill>
              </a:defRPr>
            </a:pPr>
            <a:r>
              <a:rPr sz="1500" b="1" i="0">
                <a:solidFill>
                  <a:srgbClr val="1F2926"/>
                </a:solidFill>
              </a:rPr>
              <a:t>Build &amp; 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B358B-ED3D-4162-909B-32D2E33F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6860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B706C"/>
                </a:solidFill>
              </a:defRPr>
            </a:pPr>
            <a:r>
              <a:rPr sz="1125" b="0" i="0">
                <a:solidFill>
                  <a:srgbClr val="6B706C"/>
                </a:solidFill>
              </a:rPr>
              <a:t>multi-container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4853D2-F614-4D2E-A887-BBA29DF3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90725"/>
            <a:ext cx="1714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9050">
            <a:solidFill>
              <a:srgbClr val="163F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8DE95-FF06-4221-BC8A-2A401243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3837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F2926"/>
                </a:solidFill>
              </a:defRPr>
            </a:pPr>
            <a:r>
              <a:rPr sz="1500" b="1" i="0">
                <a:solidFill>
                  <a:srgbClr val="1F2926"/>
                </a:solidFill>
              </a:rPr>
              <a:t>Smoke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28F100-97D1-4587-9803-A5A16721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6860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B706C"/>
                </a:solidFill>
              </a:defRPr>
            </a:pPr>
            <a:r>
              <a:rPr sz="1125" b="0" i="0">
                <a:solidFill>
                  <a:srgbClr val="6B706C"/>
                </a:solidFill>
              </a:rPr>
              <a:t>/health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16D44A-FCAD-40F9-BD4F-31B06881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F2926"/>
                </a:solidFill>
              </a:defRPr>
            </a:pPr>
            <a:r>
              <a:rPr sz="1875" b="1" i="0">
                <a:solidFill>
                  <a:srgbClr val="1F2926"/>
                </a:solidFill>
              </a:rPr>
              <a:t>Pipeline gagal dipakai sebagai bukti kontrol kualitas, bukan disembunyikan.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575601-1866-447D-AF5A-CA7842EC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5AD"/>
          </a:solidFill>
          <a:ln xmlns:a="http://schemas.openxmlformats.org/drawingml/2006/main" w="0">
            <a:solidFill>
              <a:srgbClr val="B7B5A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D991A2-665C-41A2-A90E-DA5ADA7C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577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B3E35"/>
                </a:solidFill>
              </a:defRPr>
            </a:pPr>
            <a:r>
              <a:rPr sz="1125" b="1" i="0">
                <a:solidFill>
                  <a:srgbClr val="9B3E35"/>
                </a:solidFill>
              </a:rPr>
              <a:t>RUN 29831220206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27587A-BEA0-4CC5-BF57-9D7E6174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00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9B3E35"/>
                </a:solidFill>
              </a:defRPr>
            </a:pPr>
            <a:r>
              <a:rPr sz="1800" b="1" i="0">
                <a:solidFill>
                  <a:srgbClr val="9B3E35"/>
                </a:solidFill>
              </a:rPr>
              <a:t>GAGAL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2BEC19-68F1-44ED-92CE-02DC431F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721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06C"/>
                </a:solidFill>
              </a:defRPr>
            </a:pPr>
            <a:r>
              <a:rPr sz="1200" b="0" i="0">
                <a:solidFill>
                  <a:srgbClr val="6B706C"/>
                </a:solidFill>
              </a:rPr>
              <a:t>validasi judul kosong belum lolos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206D25-A3CA-4935-BE8B-D1116C78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67300"/>
            <a:ext cx="8572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7C0"/>
          </a:solidFill>
          <a:ln xmlns:a="http://schemas.openxmlformats.org/drawingml/2006/main" w="0">
            <a:solidFill>
              <a:srgbClr val="B9C7C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7A6C2D-E788-42BC-A772-1DDFDA68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768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F2926"/>
                </a:solidFill>
              </a:defRPr>
            </a:pPr>
            <a:r>
              <a:rPr sz="1500" b="1" i="0">
                <a:solidFill>
                  <a:srgbClr val="1F2926"/>
                </a:solidFill>
              </a:rPr>
              <a:t>Perbaikan validasi</a:t>
            </a:r>
          </a:p>
          <a:p xmlns:a="http://schemas.openxmlformats.org/drawingml/2006/main">
            <a:pPr algn="ctr">
              <a:defRPr sz="1500" b="1" i="0">
                <a:solidFill>
                  <a:srgbClr val="1F2926"/>
                </a:solidFill>
              </a:defRPr>
            </a:pPr>
            <a:r>
              <a:rPr sz="1500" b="1" i="0">
                <a:solidFill>
                  <a:srgbClr val="1F2926"/>
                </a:solidFill>
              </a:rPr>
              <a:t>+ pengujian ulang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774776-27FC-4190-8FFE-5126B10E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67300"/>
            <a:ext cx="8572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7C0"/>
          </a:solidFill>
          <a:ln xmlns:a="http://schemas.openxmlformats.org/drawingml/2006/main" w="0">
            <a:solidFill>
              <a:srgbClr val="B9C7C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81F8C0-57B1-435D-A0E9-78E229E9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577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3F38"/>
                </a:solidFill>
              </a:defRPr>
            </a:pPr>
            <a:r>
              <a:rPr sz="1125" b="1" i="0">
                <a:solidFill>
                  <a:srgbClr val="163F38"/>
                </a:solidFill>
              </a:rPr>
              <a:t>RUN 29831388768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D1A986-EDB6-4903-AB74-69938BD2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00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63F38"/>
                </a:solidFill>
              </a:defRPr>
            </a:pPr>
            <a:r>
              <a:rPr sz="1800" b="1" i="0">
                <a:solidFill>
                  <a:srgbClr val="163F38"/>
                </a:solidFill>
              </a:rPr>
              <a:t>BERHASIL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7F9B37-679B-47C3-AB46-EA8B94C3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3721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06C"/>
                </a:solidFill>
              </a:defRPr>
            </a:pPr>
            <a:r>
              <a:rPr sz="1200" b="0" i="0">
                <a:solidFill>
                  <a:srgbClr val="6B706C"/>
                </a:solidFill>
              </a:rPr>
              <a:t>test, build, compose, dan /health lolos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937364-643D-4A19-BCCC-01DCABA5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5AD"/>
          </a:solidFill>
          <a:ln xmlns:a="http://schemas.openxmlformats.org/drawingml/2006/main" w="0">
            <a:solidFill>
              <a:srgbClr val="B7B5A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22FC72-2D56-44D1-BBB2-CA00F899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06C"/>
                </a:solidFill>
              </a:defRPr>
            </a:pPr>
            <a:r>
              <a:rPr sz="825" b="1" i="0">
                <a:solidFill>
                  <a:srgbClr val="6B706C"/>
                </a:solidFill>
              </a:rPr>
              <a:t>TASKLITE · UAS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3110748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97D01B-3DF0-4BD5-A63F-F0ACE26A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F38"/>
          </a:solidFill>
          <a:ln xmlns:a="http://schemas.openxmlformats.org/drawingml/2006/main" w="0">
            <a:solidFill>
              <a:srgbClr val="163F38"/>
            </a:solidFill>
            <a:prstDash val="solid"/>
          </a:ln>
        </p:spPr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99AE698A-6975-49CE-B5DC-5176D874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F2926"/>
                </a:solidFill>
              </a:defRPr>
            </a:pPr>
            <a:r>
              <a:rPr sz="2925" b="1" i="0">
                <a:solidFill>
                  <a:srgbClr val="1F2926"/>
                </a:solidFill>
              </a:rPr>
              <a:t>Pengujian membuktikan fungsi, kesehatan, dan persistensi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11F14-FDA8-4799-8198-2EB0A44D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3F38"/>
                </a:solidFill>
              </a:defRPr>
            </a:pPr>
            <a:r>
              <a:rPr sz="1200" b="1" i="0">
                <a:solidFill>
                  <a:srgbClr val="163F38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D39F6-EDD9-4051-88B1-E7B092F6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74370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1"/>
          </a:solidFill>
          <a:ln xmlns:a="http://schemas.openxmlformats.org/drawingml/2006/main" w="19050">
            <a:solidFill>
              <a:srgbClr val="163F38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cd9585848476e"/>
          <a:stretch xmlns:a="http://schemas.openxmlformats.org/drawingml/2006/main"/>
        </p:blipFill>
        <p:spPr>
          <a:xfrm xmlns:a="http://schemas.openxmlformats.org/drawingml/2006/main">
            <a:off x="781050" y="1906312"/>
            <a:ext cx="6553200" cy="315967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B5A8A-4E09-48F0-8B75-7108979F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674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B706C"/>
                </a:solidFill>
              </a:defRPr>
            </a:pPr>
            <a:r>
              <a:rPr sz="1275" b="0" i="0">
                <a:solidFill>
                  <a:srgbClr val="6B706C"/>
                </a:solidFill>
              </a:rPr>
              <a:t>Bukti runtime: app dan db berstatus healthy.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80FE1-8569-430A-9B2B-C61D177A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5255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63F38"/>
                </a:solidFill>
              </a:defRPr>
            </a:pPr>
            <a:r>
              <a:rPr sz="3600" b="1" i="0">
                <a:solidFill>
                  <a:srgbClr val="163F38"/>
                </a:solidFill>
              </a:rPr>
              <a:t>9/9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FAF39-8115-4827-84C8-F4333D43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81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26"/>
                </a:solidFill>
              </a:defRPr>
            </a:pPr>
            <a:r>
              <a:rPr sz="1350" b="1" i="0">
                <a:solidFill>
                  <a:srgbClr val="1F2926"/>
                </a:solidFill>
              </a:rPr>
              <a:t>automated test lolos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BF57B5-B2C7-40F9-9485-371E4765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81225"/>
            <a:ext cx="350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5AD"/>
          </a:solidFill>
          <a:ln xmlns:a="http://schemas.openxmlformats.org/drawingml/2006/main" w="0">
            <a:solidFill>
              <a:srgbClr val="B7B5A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14704-B508-4B69-9F62-9421AD6E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57450"/>
            <a:ext cx="1571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F635A"/>
                </a:solidFill>
              </a:defRPr>
            </a:pPr>
            <a:r>
              <a:rPr sz="2100" b="1" i="0">
                <a:solidFill>
                  <a:srgbClr val="2F635A"/>
                </a:solidFill>
              </a:rPr>
              <a:t>healthy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9A6E1-1A8F-4B1E-B55C-75303ACB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52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26"/>
                </a:solidFill>
              </a:defRPr>
            </a:pPr>
            <a:r>
              <a:rPr sz="1350" b="1" i="0">
                <a:solidFill>
                  <a:srgbClr val="1F2926"/>
                </a:solidFill>
              </a:rPr>
              <a:t>app dan PostgreSQL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BDB9E-1117-4FB8-A618-20E5C973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33725"/>
            <a:ext cx="350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5AD"/>
          </a:solidFill>
          <a:ln xmlns:a="http://schemas.openxmlformats.org/drawingml/2006/main" w="0">
            <a:solidFill>
              <a:srgbClr val="B7B5A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B5AF8-43B0-4891-94F8-7D448FD8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00425"/>
            <a:ext cx="1571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F635A"/>
                </a:solidFill>
              </a:defRPr>
            </a:pPr>
            <a:r>
              <a:rPr sz="2100" b="1" i="0">
                <a:solidFill>
                  <a:srgbClr val="2F635A"/>
                </a:solidFill>
              </a:rPr>
              <a:t>persist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723624-26EC-4AAA-91DA-7EF9D3A1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813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26"/>
                </a:solidFill>
              </a:defRPr>
            </a:pPr>
            <a:r>
              <a:rPr sz="1350" b="1" i="0">
                <a:solidFill>
                  <a:srgbClr val="1F2926"/>
                </a:solidFill>
              </a:rPr>
              <a:t>data tetap ada setelah down/up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064A9D-D344-4494-A52B-16BDEA4B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91000"/>
            <a:ext cx="350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5AD"/>
          </a:solidFill>
          <a:ln xmlns:a="http://schemas.openxmlformats.org/drawingml/2006/main" w="0">
            <a:solidFill>
              <a:srgbClr val="B7B5A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29CA6E-D868-4042-89AA-D83EE6A0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958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635A"/>
                </a:solidFill>
              </a:defRPr>
            </a:pPr>
            <a:r>
              <a:rPr sz="1875" b="1" i="0">
                <a:solidFill>
                  <a:srgbClr val="2F635A"/>
                </a:solidFill>
              </a:rPr>
              <a:t>503 → 200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8BA12E-8177-48BE-AA16-BF4F4AC5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26"/>
                </a:solidFill>
              </a:defRPr>
            </a:pPr>
            <a:r>
              <a:rPr sz="1350" b="1" i="0">
                <a:solidFill>
                  <a:srgbClr val="1F2926"/>
                </a:solidFill>
              </a:rPr>
              <a:t>database gagal lalu pulih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948F3A-B143-46F8-BD07-22A01FB6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86375"/>
            <a:ext cx="350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5AD"/>
          </a:solidFill>
          <a:ln xmlns:a="http://schemas.openxmlformats.org/drawingml/2006/main" w="0">
            <a:solidFill>
              <a:srgbClr val="B7B5A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E75331-9832-4D52-A009-9C591941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435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63F38"/>
                </a:solidFill>
              </a:defRPr>
            </a:pPr>
            <a:r>
              <a:rPr sz="2100" b="1" i="0">
                <a:solidFill>
                  <a:srgbClr val="163F38"/>
                </a:solidFill>
              </a:rPr>
              <a:t>CRUD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30F8A4-D238-4E4D-A934-504545B4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626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26"/>
                </a:solidFill>
              </a:defRPr>
            </a:pPr>
            <a:r>
              <a:rPr sz="1350" b="1" i="0">
                <a:solidFill>
                  <a:srgbClr val="1F2926"/>
                </a:solidFill>
              </a:rPr>
              <a:t>create · read · update · delete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7FAEDD-32A5-4AAC-89DB-BDA95991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5AD"/>
          </a:solidFill>
          <a:ln xmlns:a="http://schemas.openxmlformats.org/drawingml/2006/main" w="0">
            <a:solidFill>
              <a:srgbClr val="B7B5A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5579AB-CC1B-4C4B-A7FB-C7CE9F21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06C"/>
                </a:solidFill>
              </a:defRPr>
            </a:pPr>
            <a:r>
              <a:rPr sz="825" b="1" i="0">
                <a:solidFill>
                  <a:srgbClr val="6B706C"/>
                </a:solidFill>
              </a:rPr>
              <a:t>TASKLITE · UAS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606243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94B5B1-FDBB-4CD2-A6E3-E8369C1A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F38"/>
          </a:solidFill>
          <a:ln xmlns:a="http://schemas.openxmlformats.org/drawingml/2006/main" w="0">
            <a:solidFill>
              <a:srgbClr val="163F38"/>
            </a:solidFill>
            <a:prstDash val="solid"/>
          </a:ln>
        </p:spPr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5221916E-7124-47B0-872B-D762DB10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F2926"/>
                </a:solidFill>
              </a:defRPr>
            </a:pPr>
            <a:r>
              <a:rPr sz="2925" b="1" i="0">
                <a:solidFill>
                  <a:srgbClr val="1F2926"/>
                </a:solidFill>
              </a:rPr>
              <a:t>Semua kriteria UAS terpenuhi dengan arsitektur minimal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8C73C-B5C7-45AC-94E9-3FF7B6C6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3F38"/>
                </a:solidFill>
              </a:defRPr>
            </a:pPr>
            <a:r>
              <a:rPr sz="1200" b="1" i="0">
                <a:solidFill>
                  <a:srgbClr val="163F38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49613-8E4F-47CD-99B4-E1E4AD5B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B706C"/>
                </a:solidFill>
              </a:defRPr>
            </a:pPr>
            <a:r>
              <a:rPr sz="1800" b="0" i="0">
                <a:solidFill>
                  <a:srgbClr val="6B706C"/>
                </a:solidFill>
              </a:rPr>
              <a:t>TaskLite menunjukkan bahwa implementasi Cloud Computing yang lengkap tetap dapat dijalankan secara ringan di localhost.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932C0-2E4E-42DA-BF4A-0965AF93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F38"/>
          </a:solidFill>
          <a:ln xmlns:a="http://schemas.openxmlformats.org/drawingml/2006/main" w="0">
            <a:solidFill>
              <a:srgbClr val="163F3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A9165-E74B-422B-B897-966A0E27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574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7E28B-AFE7-468F-92F2-8B6FCB4C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926"/>
                </a:solidFill>
              </a:defRPr>
            </a:pPr>
            <a:r>
              <a:rPr sz="1500" b="1" i="0">
                <a:solidFill>
                  <a:srgbClr val="1F2926"/>
                </a:solidFill>
              </a:rPr>
              <a:t>Multi-container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3D662-FA54-461F-9E2B-82E59603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2412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06C"/>
                </a:solidFill>
              </a:defRPr>
            </a:pPr>
            <a:r>
              <a:rPr sz="1200" b="0" i="0">
                <a:solidFill>
                  <a:srgbClr val="6B706C"/>
                </a:solidFill>
              </a:rPr>
              <a:t>Aplikasi dan database terpisah serta dikelola Compose.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4FE71C-FA2F-44CF-B8E0-225D7E2F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F38"/>
          </a:solidFill>
          <a:ln xmlns:a="http://schemas.openxmlformats.org/drawingml/2006/main" w="0">
            <a:solidFill>
              <a:srgbClr val="163F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F19DA-22A3-48BB-B802-DD9FFEAD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527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E7880-57E8-4236-9B60-67667DCD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926"/>
                </a:solidFill>
              </a:defRPr>
            </a:pPr>
            <a:r>
              <a:rPr sz="1500" b="1" i="0">
                <a:solidFill>
                  <a:srgbClr val="1F2926"/>
                </a:solidFill>
              </a:rPr>
              <a:t>Persistent dan terkonfigurasi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798D5-21CD-496D-BA5E-42D927A2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194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06C"/>
                </a:solidFill>
              </a:defRPr>
            </a:pPr>
            <a:r>
              <a:rPr sz="1200" b="0" i="0">
                <a:solidFill>
                  <a:srgbClr val="6B706C"/>
                </a:solidFill>
              </a:rPr>
              <a:t>Named volume, environment variable, network, dan health check.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1283F-F707-4947-BB63-6A6C79DF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F38"/>
          </a:solidFill>
          <a:ln xmlns:a="http://schemas.openxmlformats.org/drawingml/2006/main" w="0">
            <a:solidFill>
              <a:srgbClr val="163F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56F4BE-980B-4AF5-8E58-46F89D61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481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2D3D0-05E5-48A5-BD84-AA995852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926"/>
                </a:solidFill>
              </a:defRPr>
            </a:pPr>
            <a:r>
              <a:rPr sz="1500" b="1" i="0">
                <a:solidFill>
                  <a:srgbClr val="1F2926"/>
                </a:solidFill>
              </a:rPr>
              <a:t>Teruji otomatis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0F1C3-D622-45EC-8CE1-7C8BD597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1482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06C"/>
                </a:solidFill>
              </a:defRPr>
            </a:pPr>
            <a:r>
              <a:rPr sz="1200" b="0" i="0">
                <a:solidFill>
                  <a:srgbClr val="6B706C"/>
                </a:solidFill>
              </a:rPr>
              <a:t>9 tes pytest dan smoke test /health dijalankan di GitHub Actions.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CBA0E-79AC-4E88-A7F1-16647D4F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F38"/>
          </a:solidFill>
          <a:ln xmlns:a="http://schemas.openxmlformats.org/drawingml/2006/main" w="0">
            <a:solidFill>
              <a:srgbClr val="163F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B63881-40EF-4D54-88C7-DBDD3190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434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F64C5D-70DB-4BC4-A97B-B7312FE3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926"/>
                </a:solidFill>
              </a:defRPr>
            </a:pPr>
            <a:r>
              <a:rPr sz="1500" b="1" i="0">
                <a:solidFill>
                  <a:srgbClr val="1F2926"/>
                </a:solidFill>
              </a:rPr>
              <a:t>Riwayat kerja dapat ditelusuri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9F0C3A-1100-45CA-B20D-491907AA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01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06C"/>
                </a:solidFill>
              </a:defRPr>
            </a:pPr>
            <a:r>
              <a:rPr sz="1200" b="0" i="0">
                <a:solidFill>
                  <a:srgbClr val="6B706C"/>
                </a:solidFill>
              </a:rPr>
              <a:t>Commit bertahap dan pipeline gagal–berhasil menjadi bukti proses.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7BB490-4DC1-455C-9BCE-6B98506D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0027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5AD"/>
          </a:solidFill>
          <a:ln xmlns:a="http://schemas.openxmlformats.org/drawingml/2006/main" w="0">
            <a:solidFill>
              <a:srgbClr val="B7B5A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F6916E-C519-4514-BC46-67A11F32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479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F2926"/>
                </a:solidFill>
              </a:defRPr>
            </a:pPr>
            <a:r>
              <a:rPr sz="2100" b="1" i="0">
                <a:solidFill>
                  <a:srgbClr val="1F2926"/>
                </a:solidFill>
              </a:rPr>
              <a:t>Pengembangan berikutnya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CD3BF0-928D-4327-8345-D0873B54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527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63F38"/>
                </a:solidFill>
              </a:defRPr>
            </a:pPr>
            <a:r>
              <a:rPr sz="2100" b="1" i="0">
                <a:solidFill>
                  <a:srgbClr val="163F38"/>
                </a:solidFill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F2EF10-EFB9-4D74-9797-90816A96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90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926"/>
                </a:solidFill>
              </a:defRPr>
            </a:pPr>
            <a:r>
              <a:rPr sz="1500" b="1" i="0">
                <a:solidFill>
                  <a:srgbClr val="1F2926"/>
                </a:solidFill>
              </a:rPr>
              <a:t>Autentikasi pengguna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66B7F1-F6B7-49C6-974D-930DD018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2902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63F38"/>
                </a:solidFill>
              </a:defRPr>
            </a:pPr>
            <a:r>
              <a:rPr sz="2100" b="1" i="0">
                <a:solidFill>
                  <a:srgbClr val="163F38"/>
                </a:solidFill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2D722C-D7B9-40E2-9591-A70A70A4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67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926"/>
                </a:solidFill>
              </a:defRPr>
            </a:pPr>
            <a:r>
              <a:rPr sz="1500" b="1" i="0">
                <a:solidFill>
                  <a:srgbClr val="1F2926"/>
                </a:solidFill>
              </a:rPr>
              <a:t>Filter dan tenggat tugas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AB08A8-AEEA-4AB8-AA9E-13672CBB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3053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63F38"/>
                </a:solidFill>
              </a:defRPr>
            </a:pPr>
            <a:r>
              <a:rPr sz="2100" b="1" i="0">
                <a:solidFill>
                  <a:srgbClr val="163F38"/>
                </a:solidFill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BF45AD-FE80-45B8-A186-E73A5DC2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434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926"/>
                </a:solidFill>
              </a:defRPr>
            </a:pPr>
            <a:r>
              <a:rPr sz="1500" b="1" i="0">
                <a:solidFill>
                  <a:srgbClr val="1F2926"/>
                </a:solidFill>
              </a:rPr>
              <a:t>Registry image bila dibutuhkan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983363-5DDC-428D-9790-B3EE8022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62550"/>
            <a:ext cx="3638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B706C"/>
                </a:solidFill>
              </a:defRPr>
            </a:pPr>
            <a:r>
              <a:rPr sz="1275" b="0" i="0">
                <a:solidFill>
                  <a:srgbClr val="6B706C"/>
                </a:solidFill>
              </a:rPr>
              <a:t>Kubernetes dan VPS tidak diperlukan untuk memenuhi ruang lingkup UAS ini.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288F96-6DEC-4B9E-8AA2-10DD6D75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5AD"/>
          </a:solidFill>
          <a:ln xmlns:a="http://schemas.openxmlformats.org/drawingml/2006/main" w="0">
            <a:solidFill>
              <a:srgbClr val="B7B5A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3573A4-DFDB-4571-B199-952833AC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06C"/>
                </a:solidFill>
              </a:defRPr>
            </a:pPr>
            <a:r>
              <a:rPr sz="825" b="1" i="0">
                <a:solidFill>
                  <a:srgbClr val="6B706C"/>
                </a:solidFill>
              </a:rPr>
              <a:t>TASKLITE · UAS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626380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2026-07-23T05:38:17.0840000Z</dcterms:created>
  <dcterms:modified xsi:type="dcterms:W3CDTF">2026-07-23T05:38:17.0850000Z</dcterms:modified>
</coreProperties>
</file>